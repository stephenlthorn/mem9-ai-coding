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90E2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1371600"/>
            <a:ext cx="457200" cy="457200"/>
          </a:xfrm>
          <a:prstGeom prst="ellipse">
            <a:avLst/>
          </a:prstGeom>
          <a:solidFill>
            <a:srgbClr val="EE3936"/>
          </a:solidFill>
          <a:ln w="12700">
            <a:solidFill>
              <a:srgbClr val="EE39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399032"/>
            <a:ext cx="512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TiDB as an Agentic Coding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Memory System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AI coding tools.  One shared brain.  Zero cold starts.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3161E"/>
          </a:solidFill>
          <a:ln w="12700">
            <a:solidFill>
              <a:srgbClr val="252A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554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Codex  ·  Cursor  ·  MCP  ·  TiDB Cloud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coding agents work blind and alone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8229600" cy="749808"/>
          </a:xfrm>
          <a:prstGeom prst="rect">
            <a:avLst/>
          </a:prstGeom>
          <a:solidFill>
            <a:srgbClr val="13161E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234440"/>
            <a:ext cx="64008" cy="749808"/>
          </a:xfrm>
          <a:prstGeom prst="rect">
            <a:avLst/>
          </a:prstGeom>
          <a:solidFill>
            <a:srgbClr val="FF453A"/>
          </a:solidFill>
          <a:ln w="12700">
            <a:solidFill>
              <a:srgbClr val="FF45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307592"/>
            <a:ext cx="797356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Duplication  </a:t>
            </a:r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Can't see a component exists → builds a second one. TiDB holds what exists as queryable state.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749808"/>
          </a:xfrm>
          <a:prstGeom prst="rect">
            <a:avLst/>
          </a:prstGeom>
          <a:solidFill>
            <a:srgbClr val="13161E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103120"/>
            <a:ext cx="64008" cy="749808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2176272"/>
            <a:ext cx="797356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7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Broken conventions  </a:t>
            </a:r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raw aws.s3.Bucket instead of the library wrapper. TiDB stores the graph edge that says 'use the library.'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971800"/>
            <a:ext cx="8229600" cy="749808"/>
          </a:xfrm>
          <a:prstGeom prst="rect">
            <a:avLst/>
          </a:prstGeom>
          <a:solidFill>
            <a:srgbClr val="13161E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971800"/>
            <a:ext cx="64008" cy="749808"/>
          </a:xfrm>
          <a:prstGeom prst="rect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3044952"/>
            <a:ext cx="797356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Invisible blast radius  </a:t>
            </a:r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Changes S3Bucket, also breaks all RDS databases two hops away. A recursive CTE in TiDB reveals the full chain.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8229600" cy="749808"/>
          </a:xfrm>
          <a:prstGeom prst="rect">
            <a:avLst/>
          </a:prstGeom>
          <a:solidFill>
            <a:srgbClr val="13161E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840480"/>
            <a:ext cx="64008" cy="749808"/>
          </a:xfrm>
          <a:prstGeom prst="rect">
            <a:avLst/>
          </a:prstGeom>
          <a:solidFill>
            <a:srgbClr val="BF5AF2"/>
          </a:solidFill>
          <a:ln w="12700">
            <a:solidFill>
              <a:srgbClr val="BF5A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3913632"/>
            <a:ext cx="797356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5A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starts  </a:t>
            </a:r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session re-derives everything and re-makes mistakes. TiDB's session log hands off context warm.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SCENARIO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Platform Engineering — Pulumi IaC Monorepo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188720"/>
            <a:ext cx="2743200" cy="3657600"/>
          </a:xfrm>
          <a:prstGeom prst="rect">
            <a:avLst/>
          </a:prstGeom>
          <a:solidFill>
            <a:srgbClr val="13161E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88720"/>
            <a:ext cx="2743200" cy="320040"/>
          </a:xfrm>
          <a:prstGeom prst="rect">
            <a:avLst/>
          </a:prstGeom>
          <a:solidFill>
            <a:srgbClr val="4A90E2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2344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CODEBASE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6002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Pulumi (TypeScript) monorepo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99339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 libraries: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38658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S3Bucket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77977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PostgreSQL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17296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DNSRecord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5661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SSOApplication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95935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 + staging environments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64408" y="1188720"/>
            <a:ext cx="2743200" cy="3657600"/>
          </a:xfrm>
          <a:prstGeom prst="rect">
            <a:avLst/>
          </a:prstGeom>
          <a:solidFill>
            <a:srgbClr val="13161E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64408" y="1188720"/>
            <a:ext cx="2743200" cy="32004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55848" y="12344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01568" y="16002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different AI coding tools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401568" y="199339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developers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01568" y="238658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repo, same time: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01568" y="277977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Claude Code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401568" y="317296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Codex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01568" y="35661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Cursor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08776" y="1188720"/>
            <a:ext cx="2743200" cy="3657600"/>
          </a:xfrm>
          <a:prstGeom prst="rect">
            <a:avLst/>
          </a:prstGeom>
          <a:solidFill>
            <a:srgbClr val="13161E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08776" y="1188720"/>
            <a:ext cx="2743200" cy="32004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0216" y="12344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TASK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45936" y="16002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is complete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45936" y="199339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Staging has drifted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45936" y="238658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DNS + SSO layer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45936" y="2779776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 components)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345936" y="317296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345936" y="35661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staging to parity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345936" y="395935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all three tools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real CLIs · MCP · One TiDB Cloud database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1645920" cy="640080"/>
          </a:xfrm>
          <a:prstGeom prst="rect">
            <a:avLst/>
          </a:prstGeom>
          <a:solidFill>
            <a:srgbClr val="2A1A12"/>
          </a:solidFill>
          <a:ln w="19050">
            <a:solidFill>
              <a:srgbClr val="CC78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14300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7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920240" y="1463040"/>
            <a:ext cx="822960" cy="0"/>
          </a:xfrm>
          <a:prstGeom prst="line">
            <a:avLst/>
          </a:prstGeom>
          <a:noFill/>
          <a:ln w="19050">
            <a:solidFill>
              <a:srgbClr val="545B7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2011680"/>
            <a:ext cx="1645920" cy="640080"/>
          </a:xfrm>
          <a:prstGeom prst="rect">
            <a:avLst/>
          </a:prstGeom>
          <a:solidFill>
            <a:srgbClr val="0D2218"/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201168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A3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920240" y="2331720"/>
            <a:ext cx="822960" cy="0"/>
          </a:xfrm>
          <a:prstGeom prst="line">
            <a:avLst/>
          </a:prstGeom>
          <a:noFill/>
          <a:ln w="19050">
            <a:solidFill>
              <a:srgbClr val="545B7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2880360"/>
            <a:ext cx="1645920" cy="640080"/>
          </a:xfrm>
          <a:prstGeom prst="rect">
            <a:avLst/>
          </a:prstGeom>
          <a:solidFill>
            <a:srgbClr val="0D1A2A"/>
          </a:solidFill>
          <a:ln w="19050">
            <a:solidFill>
              <a:srgbClr val="4A90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288036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920240" y="3200400"/>
            <a:ext cx="822960" cy="0"/>
          </a:xfrm>
          <a:prstGeom prst="line">
            <a:avLst/>
          </a:prstGeom>
          <a:noFill/>
          <a:ln w="19050">
            <a:solidFill>
              <a:srgbClr val="545B7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88920" y="1280160"/>
            <a:ext cx="1828800" cy="1691640"/>
          </a:xfrm>
          <a:prstGeom prst="rect">
            <a:avLst/>
          </a:prstGeom>
          <a:solidFill>
            <a:srgbClr val="1A1E2A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788920" y="13716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788920" y="17830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tidb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88920" y="20574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A3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tidb-infra-kb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17720" y="2121408"/>
            <a:ext cx="822960" cy="0"/>
          </a:xfrm>
          <a:prstGeom prst="line">
            <a:avLst/>
          </a:prstGeom>
          <a:noFill/>
          <a:ln w="19050">
            <a:solidFill>
              <a:srgbClr val="545B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1993392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0" y="1188720"/>
            <a:ext cx="2194560" cy="411480"/>
          </a:xfrm>
          <a:prstGeom prst="ellipse">
            <a:avLst/>
          </a:prstGeom>
          <a:solidFill>
            <a:srgbClr val="2A3A66"/>
          </a:solidFill>
          <a:ln w="12700">
            <a:solidFill>
              <a:srgbClr val="252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0" y="1371600"/>
            <a:ext cx="2194560" cy="1463040"/>
          </a:xfrm>
          <a:prstGeom prst="rect">
            <a:avLst/>
          </a:prstGeom>
          <a:solidFill>
            <a:srgbClr val="15203A"/>
          </a:solidFill>
          <a:ln w="12700">
            <a:solidFill>
              <a:srgbClr val="252A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0" y="2651760"/>
            <a:ext cx="2194560" cy="411480"/>
          </a:xfrm>
          <a:prstGeom prst="ellipse">
            <a:avLst/>
          </a:prstGeom>
          <a:solidFill>
            <a:srgbClr val="141D36"/>
          </a:solidFill>
          <a:ln w="12700">
            <a:solidFill>
              <a:srgbClr val="252A3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169164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TiDB Cloud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0" y="208483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memory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4320" y="3218688"/>
            <a:ext cx="8595360" cy="475488"/>
          </a:xfrm>
          <a:prstGeom prst="rect">
            <a:avLst/>
          </a:prstGeom>
          <a:solidFill>
            <a:srgbClr val="13161E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74320" y="3218688"/>
            <a:ext cx="54864" cy="475488"/>
          </a:xfrm>
          <a:prstGeom prst="rect">
            <a:avLst/>
          </a:prstGeom>
          <a:solidFill>
            <a:srgbClr val="4A90E2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0624" y="3282696"/>
            <a:ext cx="8366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  </a:t>
            </a:r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CLI → MCP process (local) → TiDB Cloud (remote). MCP is the adapter; agents never talk to TiDB directly.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74320" y="3785616"/>
            <a:ext cx="8595360" cy="475488"/>
          </a:xfrm>
          <a:prstGeom prst="rect">
            <a:avLst/>
          </a:prstGeom>
          <a:solidFill>
            <a:srgbClr val="13161E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274320" y="3785616"/>
            <a:ext cx="54864" cy="475488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624" y="3849624"/>
            <a:ext cx="8366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MCP servers  </a:t>
            </a:r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TiDB (official PingCAP — raw SQL, vector, CTE) + tidb-infra-kb (custom convention guardrails, same DB).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" y="4352544"/>
            <a:ext cx="8595360" cy="475488"/>
          </a:xfrm>
          <a:prstGeom prst="rect">
            <a:avLst/>
          </a:prstGeom>
          <a:solidFill>
            <a:srgbClr val="13161E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74320" y="4352544"/>
            <a:ext cx="54864" cy="475488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0624" y="4416552"/>
            <a:ext cx="8366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7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DB  </a:t>
            </a:r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OLTP + OLAP + Graph + Vector + FTS, ACID across all concurrent writes.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RUNS AUTOMATICALLY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 prompt — loaded into every agent, every session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8412480" cy="2651760"/>
          </a:xfrm>
          <a:prstGeom prst="rect">
            <a:avLst/>
          </a:prstGeom>
          <a:solidFill>
            <a:srgbClr val="0A0C11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80160"/>
            <a:ext cx="79552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A9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writing any infrastructure code, query tidb-infra-kb first:
</a:t>
            </a:r>
            <a:pPr indent="0" marL="0">
              <a:buNone/>
            </a:pPr>
            <a:r>
              <a:rPr lang="en-US" sz="135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what components already exist  (don't duplicate)
</a:t>
            </a:r>
            <a:pPr indent="0" marL="0">
              <a:buNone/>
            </a:pPr>
            <a:r>
              <a:rPr lang="en-US" sz="135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how they connect  (dependency edges)
</a:t>
            </a:r>
            <a:pPr indent="0" marL="0">
              <a:buNone/>
            </a:pPr>
            <a:r>
              <a:rPr lang="en-US" sz="135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what previous sessions did  (session_log)
</a:t>
            </a:r>
            <a:pPr indent="0" marL="0">
              <a:buNone/>
            </a:pPr>
            <a:r>
              <a:rPr lang="en-US" sz="1350" b="1" dirty="0">
                <a:solidFill>
                  <a:srgbClr val="FF4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Never</a:t>
            </a:r>
            <a:pPr indent="0" marL="0">
              <a:buNone/>
            </a:pPr>
            <a:r>
              <a:rPr lang="en-US" sz="135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use raw aws.* / cloudflare.* resources — compose the library
</a:t>
            </a:r>
            <a:pPr indent="0" marL="0">
              <a:buNone/>
            </a:pPr>
            <a:r>
              <a:rPr lang="en-US" sz="135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components in libs/. After you create anything, record it with
</a:t>
            </a:r>
            <a:pPr indent="0" marL="0">
              <a:buNone/>
            </a:pPr>
            <a:r>
              <a:rPr lang="en-US" sz="135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write_component</a:t>
            </a:r>
            <a:pPr indent="0" marL="0">
              <a:buNone/>
            </a:pPr>
            <a:r>
              <a:rPr lang="en-US" sz="135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so the next session — and the next tool — starts warm.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 in: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508760" y="3913632"/>
            <a:ext cx="1920240" cy="310896"/>
          </a:xfrm>
          <a:prstGeom prst="rect">
            <a:avLst/>
          </a:prstGeom>
          <a:solidFill>
            <a:srgbClr val="1A1E2A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08760" y="3913632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C78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0" y="3913632"/>
            <a:ext cx="1920240" cy="310896"/>
          </a:xfrm>
          <a:prstGeom prst="rect">
            <a:avLst/>
          </a:prstGeom>
          <a:solidFill>
            <a:srgbClr val="1A1E2A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0" y="3913632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AGENTS.md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806440" y="3913632"/>
            <a:ext cx="1920240" cy="310896"/>
          </a:xfrm>
          <a:prstGeom prst="rect">
            <a:avLst/>
          </a:prstGeom>
          <a:solidFill>
            <a:srgbClr val="1A1E2A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806440" y="3913632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.cursorrules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every session. No per-task reminder needed.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566928"/>
            <a:ext cx="1280160" cy="246888"/>
          </a:xfrm>
          <a:prstGeom prst="roundRect">
            <a:avLst>
              <a:gd name="adj" fmla="val 44444"/>
            </a:avLst>
          </a:prstGeom>
          <a:solidFill>
            <a:srgbClr val="2A1A12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5760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C7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claude-code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874520" y="566928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 the gap, scaffold the asset layer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89611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164592" cy="164592"/>
          </a:xfrm>
          <a:prstGeom prst="ellipse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5544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Queries TiDB first — doesn't assume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164592" cy="164592"/>
          </a:xfrm>
          <a:prstGeom prst="ellipse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12140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staging is missing static-assets and assets-DNS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761488"/>
            <a:ext cx="164592" cy="164592"/>
          </a:xfrm>
          <a:prstGeom prst="ellipse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688336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Composes the existing library components — never raw aws.* resources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328416"/>
            <a:ext cx="164592" cy="164592"/>
          </a:xfrm>
          <a:prstGeom prst="ellipse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255264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both back to TiDB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886200"/>
            <a:ext cx="2011680" cy="640080"/>
          </a:xfrm>
          <a:prstGeom prst="rect">
            <a:avLst/>
          </a:prstGeom>
          <a:solidFill>
            <a:srgbClr val="2A0A0A"/>
          </a:solidFill>
          <a:ln w="12700">
            <a:solidFill>
              <a:srgbClr val="FF45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8862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4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missing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514600" y="39319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3017520" y="3886200"/>
            <a:ext cx="2011680" cy="640080"/>
          </a:xfrm>
          <a:prstGeom prst="rect">
            <a:avLst/>
          </a:prstGeom>
          <a:solidFill>
            <a:srgbClr val="0A1A0A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17520" y="388620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0D1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missing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394960" y="3749040"/>
            <a:ext cx="3474720" cy="914400"/>
          </a:xfrm>
          <a:prstGeom prst="rect">
            <a:avLst/>
          </a:prstGeom>
          <a:solidFill>
            <a:srgbClr val="0D1A2A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486400" y="3813048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TiDB benefit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0" y="4005072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database query returns exact, current results. No grepping TypeScript. No ambiguity.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566928"/>
            <a:ext cx="1280160" cy="246888"/>
          </a:xfrm>
          <a:prstGeom prst="roundRect">
            <a:avLst>
              <a:gd name="adj" fmla="val 44444"/>
            </a:avLst>
          </a:prstGeom>
          <a:solidFill>
            <a:srgbClr val="0D221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5760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874520" y="566928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cold. Pick up warm from TiDB session log.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89611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164592" cy="164592"/>
          </a:xfrm>
          <a:prstGeom prst="ellipse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5544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just opened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139696"/>
            <a:ext cx="164592" cy="164592"/>
          </a:xfrm>
          <a:prstGeom prst="ellipse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066544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A3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context of what Claude Code did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164592" cy="164592"/>
          </a:xfrm>
          <a:prstGeom prst="ellipse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578608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the shared TiDB session log — sees exactly what was just created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163824"/>
            <a:ext cx="164592" cy="164592"/>
          </a:xfrm>
          <a:prstGeom prst="ellipse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090672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Continues without any re-briefing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75888"/>
            <a:ext cx="164592" cy="164592"/>
          </a:xfrm>
          <a:prstGeom prst="ellipse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3602736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Adds the admin-DNS record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977640"/>
            <a:ext cx="2011680" cy="548640"/>
          </a:xfrm>
          <a:prstGeom prst="rect">
            <a:avLst/>
          </a:prstGeom>
          <a:solidFill>
            <a:srgbClr val="0A1A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9776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missing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14600" y="40050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3017520" y="3977640"/>
            <a:ext cx="2011680" cy="548640"/>
          </a:xfrm>
          <a:prstGeom prst="rect">
            <a:avLst/>
          </a:prstGeom>
          <a:solidFill>
            <a:srgbClr val="0A1A0A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17520" y="39776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0D1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missing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394960" y="3840480"/>
            <a:ext cx="3474720" cy="914400"/>
          </a:xfrm>
          <a:prstGeom prst="rect">
            <a:avLst/>
          </a:prstGeom>
          <a:solidFill>
            <a:srgbClr val="0D1A2A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486400" y="3904488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TiDB benefit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86400" y="4096512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session log is shared state every tool reads instantly. This replaces the briefing nobody does properly.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457200" y="566928"/>
            <a:ext cx="1280160" cy="246888"/>
          </a:xfrm>
          <a:prstGeom prst="roundRect">
            <a:avLst>
              <a:gd name="adj" fmla="val 44444"/>
            </a:avLst>
          </a:prstGeom>
          <a:solidFill>
            <a:srgbClr val="0D1A2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5760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874520" y="566928"/>
            <a:ext cx="685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 recursive CTE to verify the pattern. Then build.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89611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164592" cy="16459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5544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the official TiDB MCP to run a recursive query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164592" cy="16459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12140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SSO app must redirect to a DNS record — proved before writing a single line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761488"/>
            <a:ext cx="164592" cy="16459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688336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is graph reachability — a vector store cannot compute this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328416"/>
            <a:ext cx="164592" cy="164592"/>
          </a:xfrm>
          <a:prstGeom prst="ellipse">
            <a:avLst/>
          </a:prstGeom>
          <a:solidFill>
            <a:srgbClr val="4A90E2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255264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the final component correctly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8229600" cy="822960"/>
          </a:xfrm>
          <a:prstGeom prst="rect">
            <a:avLst/>
          </a:prstGeom>
          <a:solidFill>
            <a:srgbClr val="0A1A0A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38404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0D1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STAGING = PRODUCTION  ·  Parity reached  ·  0 missing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0D1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Staging is now at parity with production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tools  ·  4 components  ·  1 TiDB brain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1920240"/>
            <a:ext cx="2651760" cy="1645920"/>
          </a:xfrm>
          <a:prstGeom prst="rect">
            <a:avLst/>
          </a:prstGeom>
          <a:solidFill>
            <a:srgbClr val="2A1A12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920240"/>
            <a:ext cx="2651760" cy="274320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956816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304288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Scaffolded static-assets bucket + Cloudflare DNS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154680" y="1920240"/>
            <a:ext cx="2651760" cy="1645920"/>
          </a:xfrm>
          <a:prstGeom prst="rect">
            <a:avLst/>
          </a:prstGeom>
          <a:solidFill>
            <a:srgbClr val="0D2218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1920240"/>
            <a:ext cx="2651760" cy="2743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46120" y="1956816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91840" y="2304288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session log, added admin-portal DNS record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89320" y="1920240"/>
            <a:ext cx="2651760" cy="1645920"/>
          </a:xfrm>
          <a:prstGeom prst="rect">
            <a:avLst/>
          </a:prstGeom>
          <a:solidFill>
            <a:srgbClr val="0D1A2A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1920240"/>
            <a:ext cx="2651760" cy="274320"/>
          </a:xfrm>
          <a:prstGeom prst="rect">
            <a:avLst/>
          </a:prstGeom>
          <a:solidFill>
            <a:srgbClr val="4A90E2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1956816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26480" y="2304288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Proved the SSO pattern with recursive CTE, finished admin-SSO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840480"/>
            <a:ext cx="4023360" cy="384048"/>
          </a:xfrm>
          <a:prstGeom prst="rect">
            <a:avLst/>
          </a:prstGeom>
          <a:solidFill>
            <a:srgbClr val="0A1A0A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840480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0D1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Zero cold starts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00600" y="3840480"/>
            <a:ext cx="4023360" cy="384048"/>
          </a:xfrm>
          <a:prstGeom prst="rect">
            <a:avLst/>
          </a:prstGeom>
          <a:solidFill>
            <a:srgbClr val="0A1A0A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3840480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0D1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Zero convention violations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343400"/>
            <a:ext cx="4023360" cy="384048"/>
          </a:xfrm>
          <a:prstGeom prst="rect">
            <a:avLst/>
          </a:prstGeom>
          <a:solidFill>
            <a:srgbClr val="0A1A0A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343400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0D1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Zero duplicate resources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800600" y="4343400"/>
            <a:ext cx="4023360" cy="384048"/>
          </a:xfrm>
          <a:prstGeom prst="rect">
            <a:avLst/>
          </a:prstGeom>
          <a:solidFill>
            <a:srgbClr val="0A1A0A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92040" y="4343400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0D1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Full audit trail in session_log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BF5A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REACHABILITY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query a vector database can't answer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9875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breaks if I change the S3Bucket library?"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5303520" cy="2377440"/>
          </a:xfrm>
          <a:prstGeom prst="rect">
            <a:avLst/>
          </a:prstGeom>
          <a:solidFill>
            <a:srgbClr val="0A0C11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508760"/>
            <a:ext cx="5029200" cy="2148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RECURSIVE</a:t>
            </a:r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blast(from_id, to_id, relationship, depth) AS (
</a:t>
            </a:r>
            <a:pPr indent="0" marL="0">
              <a:buNone/>
            </a:pPr>
            <a:r>
              <a:rPr lang="en-US" sz="1100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</a:t>
            </a:r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e.from_id, e.to_id, e.relationship, 1
</a:t>
            </a:r>
            <a:pPr indent="0" marL="0">
              <a:buNone/>
            </a:pPr>
            <a:r>
              <a:rPr lang="en-US" sz="1100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</a:t>
            </a:r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component_edges e
</a:t>
            </a:r>
            <a:pPr indent="0" marL="0">
              <a:buNone/>
            </a:pPr>
            <a:r>
              <a:rPr lang="en-US" sz="1100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</a:t>
            </a:r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c.name = </a:t>
            </a:r>
            <a:pPr indent="0" marL="0">
              <a:buNone/>
            </a:pPr>
            <a:r>
              <a:rPr lang="en-US" sz="1100" dirty="0">
                <a:solidFill>
                  <a:srgbClr val="9ECE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'S3Bucket'
</a:t>
            </a:r>
            <a:pPr indent="0" marL="0">
              <a:buNone/>
            </a:pPr>
            <a:r>
              <a:rPr lang="en-US" sz="1100" b="1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UNION ALL
</a:t>
            </a:r>
            <a:pPr indent="0" marL="0">
              <a:buNone/>
            </a:pPr>
            <a:r>
              <a:rPr lang="en-US" sz="1100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</a:t>
            </a:r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e.from_id, e.to_id, e.relationship, depth+1
</a:t>
            </a:r>
            <a:pPr indent="0" marL="0">
              <a:buNone/>
            </a:pPr>
            <a:r>
              <a:rPr lang="en-US" sz="1100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</a:t>
            </a:r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depth &lt; 10
</a:t>
            </a:r>
            <a:pPr indent="0" marL="0">
              <a:buNone/>
            </a:pPr>
            <a:r>
              <a:rPr lang="en-US" sz="1100" b="1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DISTINCT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depth, from_id, relationship, to_id
</a:t>
            </a:r>
            <a:pPr indent="0" marL="0">
              <a:buNone/>
            </a:pPr>
            <a:r>
              <a:rPr lang="en-US" sz="1100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blast </a:t>
            </a:r>
            <a:pPr indent="0" marL="0">
              <a:buNone/>
            </a:pPr>
            <a:r>
              <a:rPr lang="en-US" sz="1100" dirty="0">
                <a:solidFill>
                  <a:srgbClr val="7AA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depth;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806440" y="1417320"/>
            <a:ext cx="3017520" cy="2377440"/>
          </a:xfrm>
          <a:prstGeom prst="rect">
            <a:avLst/>
          </a:prstGeom>
          <a:solidFill>
            <a:srgbClr val="1A1E2A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0" y="1508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97880" y="1874520"/>
            <a:ext cx="320040" cy="256032"/>
          </a:xfrm>
          <a:prstGeom prst="rect">
            <a:avLst/>
          </a:prstGeom>
          <a:solidFill>
            <a:srgbClr val="4A90E2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97880" y="1874520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0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272784" y="1874520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PostgresDatabase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97880" y="2221992"/>
            <a:ext cx="320040" cy="256032"/>
          </a:xfrm>
          <a:prstGeom prst="rect">
            <a:avLst/>
          </a:prstGeom>
          <a:solidFill>
            <a:srgbClr val="4A90E2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97880" y="2221992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0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272784" y="2221992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data-exports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97880" y="2569464"/>
            <a:ext cx="320040" cy="256032"/>
          </a:xfrm>
          <a:prstGeom prst="rect">
            <a:avLst/>
          </a:prstGeom>
          <a:solidFill>
            <a:srgbClr val="4A90E2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97880" y="2569464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0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272784" y="2569464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static-assets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897880" y="2916936"/>
            <a:ext cx="320040" cy="256032"/>
          </a:xfrm>
          <a:prstGeom prst="rect">
            <a:avLst/>
          </a:prstGeom>
          <a:solidFill>
            <a:srgbClr val="BF5AF2"/>
          </a:solidFill>
          <a:ln w="12700">
            <a:solidFill>
              <a:srgbClr val="BF5A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97880" y="2916936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0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d2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272784" y="2916936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5A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analytics-db  via PostgresDatabase!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97880" y="3264408"/>
            <a:ext cx="320040" cy="256032"/>
          </a:xfrm>
          <a:prstGeom prst="rect">
            <a:avLst/>
          </a:prstGeom>
          <a:solidFill>
            <a:srgbClr val="BF5AF2"/>
          </a:solidFill>
          <a:ln w="12700">
            <a:solidFill>
              <a:srgbClr val="BF5A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97880" y="3264408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B0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d2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272784" y="3264408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5A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analytics-db (staging)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3886200"/>
            <a:ext cx="8412480" cy="777240"/>
          </a:xfrm>
          <a:prstGeom prst="rect">
            <a:avLst/>
          </a:prstGeom>
          <a:solidFill>
            <a:srgbClr val="1A0A2A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5760" y="3886200"/>
            <a:ext cx="54864" cy="777240"/>
          </a:xfrm>
          <a:prstGeom prst="rect">
            <a:avLst/>
          </a:prstGeom>
          <a:solidFill>
            <a:srgbClr val="BF5AF2"/>
          </a:solidFill>
          <a:ln w="12700">
            <a:solidFill>
              <a:srgbClr val="BF5A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3950208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similarity finds related-looking code. It cannot compute a transitive closure. This is graph reachability — plain SQL on TiDB.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ENGINE, ONE TABLE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+ full-text + graph — same infra_components table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98755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ETL.  No sync lag.  No separate vector DB.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417320"/>
            <a:ext cx="2697480" cy="2926080"/>
          </a:xfrm>
          <a:prstGeom prst="rect">
            <a:avLst/>
          </a:prstGeom>
          <a:solidFill>
            <a:srgbClr val="13161E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417320"/>
            <a:ext cx="2697480" cy="292608"/>
          </a:xfrm>
          <a:prstGeom prst="rect">
            <a:avLst/>
          </a:prstGeom>
          <a:solidFill>
            <a:srgbClr val="BF5AF2"/>
          </a:solidFill>
          <a:ln w="12700">
            <a:solidFill>
              <a:srgbClr val="BF5A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45389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1024-dim embeddings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395728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server-side by TiDB EMBED_TEXT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962656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search via VEC_COSINE_DISTANCE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529584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client-side model needed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1417320"/>
            <a:ext cx="2697480" cy="2926080"/>
          </a:xfrm>
          <a:prstGeom prst="rect">
            <a:avLst/>
          </a:prstGeom>
          <a:solidFill>
            <a:srgbClr val="13161E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1417320"/>
            <a:ext cx="2697480" cy="292608"/>
          </a:xfrm>
          <a:prstGeom prst="rect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45389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FULL-TEXT (BM25)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37560" y="182880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FULLTEXT index on summaries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37560" y="2395728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matching via FTS_MATCH_WORD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37560" y="2962656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 relevance ranking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337560" y="3529584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on any text column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80760" y="1417320"/>
            <a:ext cx="2697480" cy="2926080"/>
          </a:xfrm>
          <a:prstGeom prst="rect">
            <a:avLst/>
          </a:prstGeom>
          <a:solidFill>
            <a:srgbClr val="13161E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80760" y="1417320"/>
            <a:ext cx="2697480" cy="292608"/>
          </a:xfrm>
          <a:prstGeom prst="rect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72200" y="145389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B0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17920" y="182880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Reciprocal rank fusion over both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17920" y="2395728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"admin portal access control":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17920" y="2962656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FTS finds 2 results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3529584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Vector finds 6 — 4 keywords missed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65760" y="4434840"/>
            <a:ext cx="8412480" cy="457200"/>
          </a:xfrm>
          <a:prstGeom prst="rect">
            <a:avLst/>
          </a:prstGeom>
          <a:solidFill>
            <a:srgbClr val="0D1A2A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Full-text finds 2  ·  Vector finds 6  ·  Hybrid gives you both, ranked together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TIDB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TiDB, not the alternatives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2560320" cy="320040"/>
          </a:xfrm>
          <a:prstGeom prst="rect">
            <a:avLst/>
          </a:prstGeom>
          <a:solidFill>
            <a:srgbClr val="1A1E2A"/>
          </a:solidFill>
          <a:ln w="12700">
            <a:solidFill>
              <a:srgbClr val="252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063240" y="1097280"/>
            <a:ext cx="2834640" cy="320040"/>
          </a:xfrm>
          <a:prstGeom prst="rect">
            <a:avLst/>
          </a:prstGeom>
          <a:solidFill>
            <a:srgbClr val="1A1E2A"/>
          </a:solidFill>
          <a:ln w="12700">
            <a:solidFill>
              <a:srgbClr val="252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154680" y="10972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TIDB CLOUD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89320" y="1097280"/>
            <a:ext cx="2926080" cy="320040"/>
          </a:xfrm>
          <a:prstGeom prst="rect">
            <a:avLst/>
          </a:prstGeom>
          <a:solidFill>
            <a:srgbClr val="1A1E2A"/>
          </a:solidFill>
          <a:ln w="12700">
            <a:solidFill>
              <a:srgbClr val="252A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080760" y="10972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ALTERNATIVES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65760" y="1463040"/>
            <a:ext cx="2560320" cy="640080"/>
          </a:xfrm>
          <a:prstGeom prst="rect">
            <a:avLst/>
          </a:prstGeom>
          <a:solidFill>
            <a:srgbClr val="13161E"/>
          </a:solidFill>
          <a:ln w="12700">
            <a:solidFill>
              <a:srgbClr val="252A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46304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Concurrent writes from 3 agents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063240" y="1463040"/>
            <a:ext cx="2834640" cy="640080"/>
          </a:xfrm>
          <a:prstGeom prst="rect">
            <a:avLst/>
          </a:prstGeom>
          <a:solidFill>
            <a:srgbClr val="13161E"/>
          </a:solidFill>
          <a:ln w="12700">
            <a:solidFill>
              <a:srgbClr val="252A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4680" y="146304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0D1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ACID transactions — all-or-nothing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89320" y="1463040"/>
            <a:ext cx="2926080" cy="640080"/>
          </a:xfrm>
          <a:prstGeom prst="rect">
            <a:avLst/>
          </a:prstGeom>
          <a:solidFill>
            <a:srgbClr val="13161E"/>
          </a:solidFill>
          <a:ln w="12700">
            <a:solidFill>
              <a:srgbClr val="252A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14630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7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S3: last-write-wins, no transactions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2176272"/>
            <a:ext cx="2560320" cy="640080"/>
          </a:xfrm>
          <a:prstGeom prst="rect">
            <a:avLst/>
          </a:prstGeom>
          <a:solidFill>
            <a:srgbClr val="161B28"/>
          </a:solidFill>
          <a:ln w="12700">
            <a:solidFill>
              <a:srgbClr val="252A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176272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what exists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63240" y="2176272"/>
            <a:ext cx="2834640" cy="640080"/>
          </a:xfrm>
          <a:prstGeom prst="rect">
            <a:avLst/>
          </a:prstGeom>
          <a:solidFill>
            <a:srgbClr val="161B28"/>
          </a:solidFill>
          <a:ln w="12700">
            <a:solidFill>
              <a:srgbClr val="252A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54680" y="2176272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0D1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SQL in milliseconds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89320" y="2176272"/>
            <a:ext cx="2926080" cy="640080"/>
          </a:xfrm>
          <a:prstGeom prst="rect">
            <a:avLst/>
          </a:prstGeom>
          <a:solidFill>
            <a:srgbClr val="161B28"/>
          </a:solidFill>
          <a:ln w="12700">
            <a:solidFill>
              <a:srgbClr val="252A3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80760" y="2176272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7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Filesystem: no queries, scan everything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2889504"/>
            <a:ext cx="2560320" cy="640080"/>
          </a:xfrm>
          <a:prstGeom prst="rect">
            <a:avLst/>
          </a:prstGeom>
          <a:solidFill>
            <a:srgbClr val="13161E"/>
          </a:solidFill>
          <a:ln w="12700">
            <a:solidFill>
              <a:srgbClr val="252A3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889504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dependency traversal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063240" y="2889504"/>
            <a:ext cx="2834640" cy="640080"/>
          </a:xfrm>
          <a:prstGeom prst="rect">
            <a:avLst/>
          </a:prstGeom>
          <a:solidFill>
            <a:srgbClr val="13161E"/>
          </a:solidFill>
          <a:ln w="12700">
            <a:solidFill>
              <a:srgbClr val="252A3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54680" y="2889504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0D1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Recursive CTEs to any depth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89320" y="2889504"/>
            <a:ext cx="2926080" cy="640080"/>
          </a:xfrm>
          <a:prstGeom prst="rect">
            <a:avLst/>
          </a:prstGeom>
          <a:solidFill>
            <a:srgbClr val="13161E"/>
          </a:solidFill>
          <a:ln w="12700">
            <a:solidFill>
              <a:srgbClr val="252A3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80760" y="2889504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7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DBs: 4 systems, no cross-system atomicity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5760" y="3602736"/>
            <a:ext cx="2560320" cy="640080"/>
          </a:xfrm>
          <a:prstGeom prst="rect">
            <a:avLst/>
          </a:prstGeom>
          <a:solidFill>
            <a:srgbClr val="161B28"/>
          </a:solidFill>
          <a:ln w="12700">
            <a:solidFill>
              <a:srgbClr val="252A3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3602736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+ keyword recall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063240" y="3602736"/>
            <a:ext cx="2834640" cy="640080"/>
          </a:xfrm>
          <a:prstGeom prst="rect">
            <a:avLst/>
          </a:prstGeom>
          <a:solidFill>
            <a:srgbClr val="161B28"/>
          </a:solidFill>
          <a:ln w="12700">
            <a:solidFill>
              <a:srgbClr val="252A3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154680" y="3602736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0D1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+ FTS in one table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989320" y="3602736"/>
            <a:ext cx="2926080" cy="640080"/>
          </a:xfrm>
          <a:prstGeom prst="rect">
            <a:avLst/>
          </a:prstGeom>
          <a:solidFill>
            <a:srgbClr val="161B28"/>
          </a:solidFill>
          <a:ln w="12700">
            <a:solidFill>
              <a:srgbClr val="252A3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80760" y="3602736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7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Pinecone + Elasticsearch: 2 more systems + ETL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4389120"/>
            <a:ext cx="8412480" cy="457200"/>
          </a:xfrm>
          <a:prstGeom prst="rect">
            <a:avLst/>
          </a:prstGeom>
          <a:solidFill>
            <a:srgbClr val="0A1A0A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30D1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is the filing cabinet for artifacts.  TiDB is the brain.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PATH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it on your own repo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ingestion job. Everything downstream works as shown.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4023360" cy="1051560"/>
          </a:xfrm>
          <a:prstGeom prst="rect">
            <a:avLst/>
          </a:prstGeom>
          <a:solidFill>
            <a:srgbClr val="13161E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600200"/>
            <a:ext cx="411480" cy="411480"/>
          </a:xfrm>
          <a:prstGeom prst="ellipse">
            <a:avLst/>
          </a:prstGeom>
          <a:solidFill>
            <a:srgbClr val="4A90E2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002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157276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resource graph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185623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your Pulumi program to enumerate every component and relationship.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463040"/>
            <a:ext cx="4023360" cy="1051560"/>
          </a:xfrm>
          <a:prstGeom prst="rect">
            <a:avLst/>
          </a:prstGeom>
          <a:solidFill>
            <a:srgbClr val="13161E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1600200"/>
            <a:ext cx="411480" cy="411480"/>
          </a:xfrm>
          <a:prstGeom prst="ellipse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6002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394960" y="157276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A3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Upsert nodes + edges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94960" y="185623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component → infra_components row. Each relationship → component_edges.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2697480"/>
            <a:ext cx="4023360" cy="1051560"/>
          </a:xfrm>
          <a:prstGeom prst="rect">
            <a:avLst/>
          </a:prstGeom>
          <a:solidFill>
            <a:srgbClr val="13161E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02920" y="2834640"/>
            <a:ext cx="411480" cy="411480"/>
          </a:xfrm>
          <a:prstGeom prst="ellipse">
            <a:avLst/>
          </a:prstGeom>
          <a:solidFill>
            <a:srgbClr val="BF5AF2"/>
          </a:solidFill>
          <a:ln w="12700">
            <a:solidFill>
              <a:srgbClr val="BF5A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8346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280720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5A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51560" y="309067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TiDB's EMBED_TEXT generates vectors on insert — no separate embedding pipeline.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09160" y="2697480"/>
            <a:ext cx="4023360" cy="1051560"/>
          </a:xfrm>
          <a:prstGeom prst="rect">
            <a:avLst/>
          </a:prstGeom>
          <a:solidFill>
            <a:srgbClr val="13161E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2834640"/>
            <a:ext cx="411480" cy="411480"/>
          </a:xfrm>
          <a:prstGeom prst="ellipse">
            <a:avLst/>
          </a:prstGeom>
          <a:solidFill>
            <a:srgbClr val="CC785C"/>
          </a:solidFill>
          <a:ln w="12700">
            <a:solidFill>
              <a:srgbClr val="CC785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28346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D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394960" y="280720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7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the scan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94960" y="309067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session_log records "graph last synced at commit abc123" — agents always know freshness.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4041648"/>
            <a:ext cx="8412480" cy="777240"/>
          </a:xfrm>
          <a:prstGeom prst="rect">
            <a:avLst/>
          </a:prstGeom>
          <a:solidFill>
            <a:srgbClr val="0D1A2A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5760" y="4041648"/>
            <a:ext cx="54864" cy="777240"/>
          </a:xfrm>
          <a:prstGeom prst="rect">
            <a:avLst/>
          </a:prstGeom>
          <a:solidFill>
            <a:srgbClr val="4A90E2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114800"/>
            <a:ext cx="8046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graph the tools query is the same shape. Only its source changes from the seed script to your live repo. Query, CTE, search, convention-enforcement, and cross-tool memory all work as shown.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A90E2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TiDB as the memory layer for agentic engineering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737360"/>
          </a:xfrm>
          <a:prstGeom prst="rect">
            <a:avLst/>
          </a:prstGeom>
          <a:solidFill>
            <a:srgbClr val="13161E"/>
          </a:solidFill>
          <a:ln w="12700">
            <a:solidFill>
              <a:srgbClr val="252A3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64008" cy="1737360"/>
          </a:xfrm>
          <a:prstGeom prst="rect">
            <a:avLst/>
          </a:prstGeom>
          <a:solidFill>
            <a:srgbClr val="4A90E2"/>
          </a:solidFill>
          <a:ln w="12700">
            <a:solidFill>
              <a:srgbClr val="4A90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463040"/>
            <a:ext cx="77724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"Three AI coding tools — the exact ones your team uses today — all sharing one TiDB brain. They query before they build, follow your conventions, see the blast radius of a change, and hand off warm to the next tool."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291840"/>
            <a:ext cx="2606040" cy="640080"/>
          </a:xfrm>
          <a:prstGeom prst="rect">
            <a:avLst/>
          </a:prstGeom>
          <a:solidFill>
            <a:srgbClr val="0A1A0A"/>
          </a:solidFill>
          <a:ln w="19050">
            <a:solidFill>
              <a:srgbClr val="30D1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29184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0D1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cold starts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91840" y="3291840"/>
            <a:ext cx="2606040" cy="640080"/>
          </a:xfrm>
          <a:prstGeom prst="rect">
            <a:avLst/>
          </a:prstGeom>
          <a:solidFill>
            <a:srgbClr val="0A1A0A"/>
          </a:solidFill>
          <a:ln w="19050">
            <a:solidFill>
              <a:srgbClr val="CC78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329184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C7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convention violations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3291840"/>
            <a:ext cx="2606040" cy="640080"/>
          </a:xfrm>
          <a:prstGeom prst="rect">
            <a:avLst/>
          </a:prstGeom>
          <a:solidFill>
            <a:srgbClr val="0A1A0A"/>
          </a:solidFill>
          <a:ln w="19050">
            <a:solidFill>
              <a:srgbClr val="4A90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329184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duplicate resources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github.com/stephenlthorn/mem9-ai-coding  ·  Apache-2.0  ·  Backed by a live TiDB Cloud cluster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093208"/>
            <a:ext cx="9144000" cy="50292"/>
          </a:xfrm>
          <a:prstGeom prst="rect">
            <a:avLst/>
          </a:prstGeom>
          <a:solidFill>
            <a:srgbClr val="4A90E2"/>
          </a:solidFill>
          <a:ln w="12700">
            <a:solidFill>
              <a:srgbClr val="4A90E2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TiDB: Shared Memory Infrastructure for AI Coding Agents</dc:title>
  <dc:subject>PptxGenJS Presentation</dc:subject>
  <dc:creator>PptxGenJS</dc:creator>
  <cp:lastModifiedBy>PptxGenJS</cp:lastModifiedBy>
  <cp:revision>1</cp:revision>
  <dcterms:created xsi:type="dcterms:W3CDTF">2026-06-05T13:23:19Z</dcterms:created>
  <dcterms:modified xsi:type="dcterms:W3CDTF">2026-06-05T13:23:19Z</dcterms:modified>
</cp:coreProperties>
</file>